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81328"/>
            <a:ext cx="45720" cy="9601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600200"/>
            <a:ext cx="914400" cy="0"/>
          </a:xfrm>
          <a:prstGeom prst="line">
            <a:avLst/>
          </a:prstGeom>
          <a:noFill/>
          <a:ln w="31750">
            <a:solidFill>
              <a:srgbClr val="C9A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00200"/>
            <a:ext cx="320040" cy="256032"/>
          </a:xfrm>
          <a:prstGeom prst="ellipse">
            <a:avLst/>
          </a:prstGeom>
          <a:ln w="25400">
            <a:solidFill>
              <a:srgbClr val="C9A2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600200"/>
            <a:ext cx="320040" cy="256032"/>
          </a:xfrm>
          <a:prstGeom prst="ellipse">
            <a:avLst/>
          </a:prstGeom>
          <a:ln w="25400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95728"/>
            <a:ext cx="32004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LEGAL AID PLATFORM  •  REVIEW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Themis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502920" y="4160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Digital Platform for Legal Aid, Document Automation,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Case Management in India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52560" y="1463040"/>
            <a:ext cx="2651760" cy="3931920"/>
          </a:xfrm>
          <a:prstGeom prst="rect">
            <a:avLst/>
          </a:prstGeom>
          <a:solidFill>
            <a:srgbClr val="2C4260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645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8116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Abiya John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281160" y="2450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28116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Devdath A 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81160" y="3227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28116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 K 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81160" y="4005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8116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2025–2026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Node.js · Hono · tRPC · Drizzle ORM · PostgreSQL · React · TypeScript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4008" cy="44348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justice in the Indian legal ecosystem remains a significant challenge due to increasing case backlogs, procedural complexity, and limited access to reliable legal information. Citizens are frequently unable to navigate the system alone, while legal aid organizations lack a unified digital infrastructure to manage cases and reach those who need help most.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is a full-stack legal-technology platform that simplifies legal processes and improves digital legal literacy through an integrated environment for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knowledge discovery, guided legal assessments, automated document generation, secure document management, and case tracking.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can search relevant legal information, complete a guided assessment, and generate editable complaints or RTI applications — without drafting them from scratch or consulting an advocate for routine paperwork.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verification mechanism connects eligible citizens with verified legal aid advocates, while an interactive case timeline gives visibility into an otherwise opaque legal process — improving transparency, accessibility, and efficiency of legal-service delivery.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Study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domain and platform objectives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B550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4650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Systemic Backlogs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courts face large case backlogs and slow procedural throughput, delaying justice for citizens.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856232"/>
            <a:ext cx="502920" cy="502920"/>
          </a:xfrm>
          <a:prstGeom prst="ellipse">
            <a:avLst/>
          </a:prstGeom>
          <a:solidFill>
            <a:srgbClr val="B5502D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174650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Asymmetry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86600" y="207568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with limited legal literacy struggle to interpret statutes and identify the correct remedy.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364992"/>
            <a:ext cx="502920" cy="502920"/>
          </a:xfrm>
          <a:prstGeom prst="ellipse">
            <a:avLst/>
          </a:prstGeom>
          <a:solidFill>
            <a:srgbClr val="B550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25526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Aid Access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58444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channel connects eligible citizens to verified, credentialed legal aid advocates.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364992"/>
            <a:ext cx="502920" cy="502920"/>
          </a:xfrm>
          <a:prstGeom prst="ellipse">
            <a:avLst/>
          </a:prstGeom>
          <a:solidFill>
            <a:srgbClr val="B5502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25526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Paperwork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358444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complaints and RTI applications from scratch is a major barrier to timely grievance redressal.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64240" cy="123444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864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120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production-ready platform that unifies legal search, guided assessment, automated document generation, secure storage, advocate matching, and case-timeline tracking into a single, accessible system.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derived from requirement collection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3E1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10789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Knowledge Search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search over statutes &amp; rights, returned as simplified explanations.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3E1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52344"/>
            <a:ext cx="54864" cy="10789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2549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Legal Assessment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13639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Question-based flow identifying the issue and recommending next steps or forms.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995928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3E1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95928"/>
            <a:ext cx="54864" cy="10789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690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Document Generation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37997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complaints &amp; RTI applications pre-filled from assessment responses.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3E1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239512"/>
            <a:ext cx="54864" cy="10789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126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Document Repository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6235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uploads, versioning, OCR processing, and complete audit trails.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50876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3E1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508760"/>
            <a:ext cx="54864" cy="10789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5819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Advocate Matching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18928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 matches citizens to verified advocates by case type &amp; jurisdiction.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752344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3E1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752344"/>
            <a:ext cx="54864" cy="10789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82549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&amp; Hearing Timeline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0" y="313639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milestones and hearing dates with reminders to citizens and advocates.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995928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3E1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995928"/>
            <a:ext cx="54864" cy="10789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0690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0" y="437997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roles — Citizen, Attorney, Coordinator, Administrator — with scoped permissions.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5239512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6F5F1"/>
          </a:solidFill>
          <a:ln w="9525">
            <a:solidFill>
              <a:srgbClr val="E3E1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5239512"/>
            <a:ext cx="54864" cy="10789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3126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Asynchronous Processing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0" y="56235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generation and notifications handled off the request path for responsiveness.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stories across platform roles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606040" cy="502920"/>
          </a:xfrm>
          <a:prstGeom prst="rect">
            <a:avLst/>
          </a:prstGeom>
          <a:solidFill>
            <a:srgbClr val="B550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220370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citizen, I want the platform to auto-generate a complaint or RTI application from my answers, so I don't have to draft legal documents myself.”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1554480"/>
            <a:ext cx="2606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554480"/>
            <a:ext cx="2606040" cy="50292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Attorney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57016" y="2286000"/>
            <a:ext cx="220370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an attorney, I want to view case files and update hearing dates, so my clients stay informed about their case progress.”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554480"/>
            <a:ext cx="2606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1554480"/>
            <a:ext cx="2606040" cy="502920"/>
          </a:xfrm>
          <a:prstGeom prst="rect">
            <a:avLst/>
          </a:prstGeom>
          <a:solidFill>
            <a:srgbClr val="5B6570"/>
          </a:solidFill>
          <a:ln/>
        </p:spPr>
      </p:sp>
      <p:sp>
        <p:nvSpPr>
          <p:cNvPr id="14" name="Text 12"/>
          <p:cNvSpPr/>
          <p:nvPr/>
        </p:nvSpPr>
        <p:spPr>
          <a:xfrm>
            <a:off x="6163056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2286000"/>
            <a:ext cx="220370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coordinator, I want to review attorney verification requests, so only credentialed professionals are onboarded.”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0264" y="1554480"/>
            <a:ext cx="2606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70264" y="1554480"/>
            <a:ext cx="2606040" cy="5029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970264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71432" y="2286000"/>
            <a:ext cx="220370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an administrator, I want complete audit logs of document access, so I can investigate compliance or security concerns.”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&amp; Team Ownership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356616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Shape 2"/>
          <p:cNvSpPr/>
          <p:nvPr/>
        </p:nvSpPr>
        <p:spPr>
          <a:xfrm>
            <a:off x="1988820" y="182880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19888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Experience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172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Abiya John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&amp; attorney interfaces, guided-assessment flow, document upload UI, case-timeline views, responsive layouts, and state management.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508760"/>
            <a:ext cx="3520440" cy="356616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0" name="Shape 8"/>
          <p:cNvSpPr/>
          <p:nvPr/>
        </p:nvSpPr>
        <p:spPr>
          <a:xfrm>
            <a:off x="5765292" y="182880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576529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53712" y="2651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3172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Devdath A 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9432" y="35661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tRPC / Hono services, JWT authentication, database schema, Drizzle migrations, and core business logic.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508760"/>
            <a:ext cx="3520440" cy="356616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6" name="Shape 14"/>
          <p:cNvSpPr/>
          <p:nvPr/>
        </p:nvSpPr>
        <p:spPr>
          <a:xfrm>
            <a:off x="9541764" y="182880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954176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30184" y="2651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Document, OCR &amp; Case Engine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0184" y="3172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 K 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75904" y="35661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document repository, OCR processing, RTI/complaint generation, advocate-matching engine, and case/hearing timeline automation.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Responsibilities:  Docker Compose configuration  •  CI/CD pipeline  •  System integration  •  Migration review  •  Testing &amp; deployment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Diagram — Use Case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interactions across the Themis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31720" y="1508760"/>
            <a:ext cx="7498080" cy="4709160"/>
          </a:xfrm>
          <a:prstGeom prst="rect">
            <a:avLst/>
          </a:prstGeom>
          <a:ln w="12700">
            <a:solidFill>
              <a:srgbClr val="5B65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331720" y="15361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Themis 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274320" cy="2743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2A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377440"/>
            <a:ext cx="914" cy="50292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560320"/>
            <a:ext cx="685800" cy="914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11480" y="2880360"/>
            <a:ext cx="292608" cy="41148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880360"/>
            <a:ext cx="292608" cy="41148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33101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4480560"/>
            <a:ext cx="274320" cy="2743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2A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754880"/>
            <a:ext cx="914" cy="50292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4937760"/>
            <a:ext cx="685800" cy="914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11480" y="5257800"/>
            <a:ext cx="292608" cy="41148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5257800"/>
            <a:ext cx="292608" cy="41148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56875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945368" y="2103120"/>
            <a:ext cx="274320" cy="2743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2A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82528" y="2377440"/>
            <a:ext cx="914" cy="50292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44200" y="2560320"/>
            <a:ext cx="685800" cy="914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0789920" y="2880360"/>
            <a:ext cx="292608" cy="41148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82528" y="2880360"/>
            <a:ext cx="292608" cy="41148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61320" y="33101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945368" y="4480560"/>
            <a:ext cx="274320" cy="2743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2A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4754880"/>
            <a:ext cx="914" cy="50292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44200" y="4937760"/>
            <a:ext cx="685800" cy="914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789920" y="5257800"/>
            <a:ext cx="292608" cy="41148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82528" y="5257800"/>
            <a:ext cx="292608" cy="411480"/>
          </a:xfrm>
          <a:prstGeom prst="line">
            <a:avLst/>
          </a:prstGeom>
          <a:noFill/>
          <a:ln w="22225">
            <a:solidFill>
              <a:srgbClr val="1B2A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61320" y="56875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0" y="1828800"/>
            <a:ext cx="2286000" cy="566928"/>
          </a:xfrm>
          <a:prstGeom prst="ellipse">
            <a:avLst/>
          </a:prstGeom>
          <a:solidFill>
            <a:srgbClr val="F6F5F1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18288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Legal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0" y="2606040"/>
            <a:ext cx="2286000" cy="566928"/>
          </a:xfrm>
          <a:prstGeom prst="ellipse">
            <a:avLst/>
          </a:prstGeom>
          <a:solidFill>
            <a:srgbClr val="F6F5F1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26060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Guided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0" y="3383280"/>
            <a:ext cx="2286000" cy="566928"/>
          </a:xfrm>
          <a:prstGeom prst="ellipse">
            <a:avLst/>
          </a:prstGeom>
          <a:solidFill>
            <a:srgbClr val="F6F5F1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33832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RTI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Document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0" y="4160520"/>
            <a:ext cx="2286000" cy="566928"/>
          </a:xfrm>
          <a:prstGeom prst="ellipse">
            <a:avLst/>
          </a:prstGeom>
          <a:solidFill>
            <a:srgbClr val="F6F5F1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88920" y="416052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OCR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0" y="4937760"/>
            <a:ext cx="2286000" cy="566928"/>
          </a:xfrm>
          <a:prstGeom prst="ellipse">
            <a:avLst/>
          </a:prstGeom>
          <a:solidFill>
            <a:srgbClr val="F6F5F1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49377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20840" y="2103120"/>
            <a:ext cx="2286000" cy="566928"/>
          </a:xfrm>
          <a:prstGeom prst="ellipse">
            <a:avLst/>
          </a:prstGeom>
          <a:solidFill>
            <a:srgbClr val="F6F5F1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210312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Match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20840" y="2880360"/>
            <a:ext cx="2286000" cy="566928"/>
          </a:xfrm>
          <a:prstGeom prst="ellipse">
            <a:avLst/>
          </a:prstGeom>
          <a:solidFill>
            <a:srgbClr val="F6F5F1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28803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20840" y="3657600"/>
            <a:ext cx="2286000" cy="566928"/>
          </a:xfrm>
          <a:prstGeom prst="ellipse">
            <a:avLst/>
          </a:prstGeom>
          <a:solidFill>
            <a:srgbClr val="F6F5F1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36576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Advocate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20840" y="4434840"/>
            <a:ext cx="2286000" cy="566928"/>
          </a:xfrm>
          <a:prstGeom prst="ellipse">
            <a:avLst/>
          </a:prstGeom>
          <a:solidFill>
            <a:srgbClr val="F6F5F1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44348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Audit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 flipV="1">
            <a:off x="1188720" y="2112264"/>
            <a:ext cx="1554480" cy="448056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8720" y="2560320"/>
            <a:ext cx="1554480" cy="329184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8720" y="2560320"/>
            <a:ext cx="1554480" cy="1106424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88720" y="2560320"/>
            <a:ext cx="1554480" cy="1883664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88720" y="2560320"/>
            <a:ext cx="1554480" cy="2660904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188720" y="2386584"/>
            <a:ext cx="5532120" cy="173736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188720" y="4443984"/>
            <a:ext cx="1554480" cy="493776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88720" y="4937760"/>
            <a:ext cx="1554480" cy="283464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188720" y="3163824"/>
            <a:ext cx="5532120" cy="1773936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06840" y="2386584"/>
            <a:ext cx="1737360" cy="173736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9006840" y="2560320"/>
            <a:ext cx="1737360" cy="1380744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06840" y="4718304"/>
            <a:ext cx="1737360" cy="219456"/>
          </a:xfrm>
          <a:prstGeom prst="line">
            <a:avLst/>
          </a:prstGeom>
          <a:noFill/>
          <a:ln w="12700">
            <a:solidFill>
              <a:srgbClr val="5B657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Diagram — Class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entities and relationships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286000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286000" cy="3108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65376"/>
            <a:ext cx="2286000" cy="0"/>
          </a:xfrm>
          <a:prstGeom prst="line">
            <a:avLst/>
          </a:prstGeom>
          <a:noFill/>
          <a:ln w="9525">
            <a:solidFill>
              <a:srgbClr val="1B2A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0195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name, email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password_hash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role, created_at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2286000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554480"/>
            <a:ext cx="2286000" cy="3108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54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1865376"/>
            <a:ext cx="2286000" cy="0"/>
          </a:xfrm>
          <a:prstGeom prst="line">
            <a:avLst/>
          </a:prstGeom>
          <a:noFill/>
          <a:ln w="9525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90195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citizen_id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attorney_id, case_type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status, jurisdiction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286000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54480"/>
            <a:ext cx="2286000" cy="3108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554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865376"/>
            <a:ext cx="2286000" cy="0"/>
          </a:xfrm>
          <a:prstGeom prst="line">
            <a:avLst/>
          </a:prstGeom>
          <a:noFill/>
          <a:ln w="9525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90195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user_id, case_id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responses_json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recommended_action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281160" y="1554480"/>
            <a:ext cx="2286000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1554480"/>
            <a:ext cx="2286000" cy="3108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554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81160" y="1865376"/>
            <a:ext cx="2286000" cy="0"/>
          </a:xfrm>
          <a:prstGeom prst="line">
            <a:avLst/>
          </a:prstGeom>
          <a:noFill/>
          <a:ln w="9525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190195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case_id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uploaded_by, file_key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file_type, ocr_status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2286000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160520"/>
            <a:ext cx="2286000" cy="3108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GeneratedDocument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471416"/>
            <a:ext cx="2286000" cy="0"/>
          </a:xfrm>
          <a:prstGeom prst="line">
            <a:avLst/>
          </a:prstGeom>
          <a:noFill/>
          <a:ln w="9525">
            <a:solidFill>
              <a:srgbClr val="1B2A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50799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case_id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document_type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content, status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20440" y="4160520"/>
            <a:ext cx="2286000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0440" y="4160520"/>
            <a:ext cx="2286000" cy="3108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41605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AttorneyVerification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20440" y="4471416"/>
            <a:ext cx="2286000" cy="0"/>
          </a:xfrm>
          <a:prstGeom prst="line">
            <a:avLst/>
          </a:prstGeom>
          <a:noFill/>
          <a:ln w="9525">
            <a:solidFill>
              <a:srgbClr val="1B2A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450799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attorney_id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bar_council_id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verification_status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0" y="4160520"/>
            <a:ext cx="2286000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4160520"/>
            <a:ext cx="2286000" cy="3108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1605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4471416"/>
            <a:ext cx="2286000" cy="0"/>
          </a:xfrm>
          <a:prstGeom prst="line">
            <a:avLst/>
          </a:prstGeom>
          <a:noFill/>
          <a:ln w="9525">
            <a:solidFill>
              <a:srgbClr val="1B2A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50799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case_id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hearing_date, location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status, notes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281160" y="4160520"/>
            <a:ext cx="2286000" cy="10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81160" y="4160520"/>
            <a:ext cx="2286000" cy="3108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9281160" y="41605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AuditLog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281160" y="4471416"/>
            <a:ext cx="2286000" cy="0"/>
          </a:xfrm>
          <a:prstGeom prst="line">
            <a:avLst/>
          </a:prstGeom>
          <a:noFill/>
          <a:ln w="9525">
            <a:solidFill>
              <a:srgbClr val="1B2A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450799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user_id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document_id, action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783080" y="2596896"/>
            <a:ext cx="28803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25880" y="2478024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63440" y="2596896"/>
            <a:ext cx="28803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0" y="2478024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72200" y="2596896"/>
            <a:ext cx="-42519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2478024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783080" y="2596896"/>
            <a:ext cx="-2880360" cy="1563624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25880" y="3259836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937760" y="2596896"/>
            <a:ext cx="2606040" cy="1563624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3259836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783080" y="2596896"/>
            <a:ext cx="2880360" cy="1563624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25880" y="3259836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1..1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24160" y="2596896"/>
            <a:ext cx="0" cy="1563624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66960" y="3259836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Table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(Drizzle ORM) — 8 core tables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1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2286000" cy="53492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20116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1463040"/>
            <a:ext cx="84124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name · email · password_hash · role · created_at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997964"/>
            <a:ext cx="11064240" cy="534924"/>
          </a:xfrm>
          <a:prstGeom prst="rect">
            <a:avLst/>
          </a:prstGeom>
          <a:solidFill>
            <a:srgbClr val="F6F5F1"/>
          </a:solidFill>
          <a:ln w="6350">
            <a:solidFill>
              <a:srgbClr val="E3E1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97964"/>
            <a:ext cx="2286000" cy="53492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97964"/>
            <a:ext cx="20116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1997964"/>
            <a:ext cx="84124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citizen_id · attorney_id · case_type · status · jurisdiction · created_at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110642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1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32888"/>
            <a:ext cx="2286000" cy="53492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32888"/>
            <a:ext cx="20116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532888"/>
            <a:ext cx="84124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user_id · case_id · responses_json · recommended_action · created_at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67812"/>
            <a:ext cx="11064240" cy="534924"/>
          </a:xfrm>
          <a:prstGeom prst="rect">
            <a:avLst/>
          </a:prstGeom>
          <a:solidFill>
            <a:srgbClr val="F6F5F1"/>
          </a:solidFill>
          <a:ln w="6350">
            <a:solidFill>
              <a:srgbClr val="E3E1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67812"/>
            <a:ext cx="2286000" cy="53492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67812"/>
            <a:ext cx="20116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3067812"/>
            <a:ext cx="84124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case_id · uploaded_by · file_key · file_type · ocr_status · uploaded_at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02736"/>
            <a:ext cx="110642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1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02736"/>
            <a:ext cx="2286000" cy="53492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02736"/>
            <a:ext cx="20116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Documents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63240" y="3602736"/>
            <a:ext cx="84124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case_id · document_type · content · status · generated_at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37660"/>
            <a:ext cx="11064240" cy="534924"/>
          </a:xfrm>
          <a:prstGeom prst="rect">
            <a:avLst/>
          </a:prstGeom>
          <a:solidFill>
            <a:srgbClr val="F6F5F1"/>
          </a:solidFill>
          <a:ln w="6350">
            <a:solidFill>
              <a:srgbClr val="E3E1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37660"/>
            <a:ext cx="2286000" cy="53492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37660"/>
            <a:ext cx="20116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Attorney Verifications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63240" y="4137660"/>
            <a:ext cx="84124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attorney_id · bar_council_id · verification_status · verified_at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72584"/>
            <a:ext cx="110642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1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672584"/>
            <a:ext cx="2286000" cy="53492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672584"/>
            <a:ext cx="20116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Hearings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63240" y="4672584"/>
            <a:ext cx="84124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case_id · hearing_date · location · status · notes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207508"/>
            <a:ext cx="11064240" cy="534924"/>
          </a:xfrm>
          <a:prstGeom prst="rect">
            <a:avLst/>
          </a:prstGeom>
          <a:solidFill>
            <a:srgbClr val="F6F5F1"/>
          </a:solidFill>
          <a:ln w="6350">
            <a:solidFill>
              <a:srgbClr val="E3E1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207508"/>
            <a:ext cx="2286000" cy="53492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207508"/>
            <a:ext cx="20116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63240" y="5207508"/>
            <a:ext cx="84124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user_id · document_id · action · timestamp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— Landing &amp; Authentication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11201400" cy="4617720"/>
          </a:xfrm>
          <a:prstGeom prst="rect">
            <a:avLst/>
          </a:prstGeom>
          <a:solidFill>
            <a:srgbClr val="1B2A41"/>
          </a:solidFill>
          <a:ln/>
        </p:spPr>
      </p:sp>
      <p:pic>
        <p:nvPicPr>
          <p:cNvPr id="4" name="Image 0" descr="/mnt/user-data/uploads/Screenshot_2026-07-26_1139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72768"/>
            <a:ext cx="10835640" cy="4315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— Core Workflows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4160520"/>
          </a:xfrm>
          <a:prstGeom prst="rect">
            <a:avLst/>
          </a:prstGeom>
          <a:solidFill>
            <a:srgbClr val="1B2A41"/>
          </a:solidFill>
          <a:ln/>
        </p:spPr>
      </p:sp>
      <p:pic>
        <p:nvPicPr>
          <p:cNvPr id="4" name="Image 0" descr="/mnt/user-data/uploads/Screenshot_2026-07-26_11395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129784" cy="3941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7424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Automation — RTI &amp; Consumer Complaint generation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263640" y="1508760"/>
            <a:ext cx="5349240" cy="4160520"/>
          </a:xfrm>
          <a:prstGeom prst="rect">
            <a:avLst/>
          </a:prstGeom>
          <a:solidFill>
            <a:srgbClr val="1B2A41"/>
          </a:solidFill>
          <a:ln/>
        </p:spPr>
      </p:sp>
      <p:pic>
        <p:nvPicPr>
          <p:cNvPr id="7" name="Image 1" descr="/mnt/user-data/uploads/Screenshot_2026-07-26_11401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73368" y="1618488"/>
            <a:ext cx="5129784" cy="3941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57424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Advocate — verified attorney directory &amp; matching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4709160"/>
          </a:xfrm>
          <a:prstGeom prst="rect">
            <a:avLst/>
          </a:prstGeom>
          <a:solidFill>
            <a:srgbClr val="2C4260"/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404872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317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843784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706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282696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0954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721608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4845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0873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4599432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526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680" y="5038344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96519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554480"/>
            <a:ext cx="5212080" cy="4709160"/>
          </a:xfrm>
          <a:prstGeom prst="rect">
            <a:avLst/>
          </a:prstGeom>
          <a:solidFill>
            <a:srgbClr val="2C4260"/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75120" y="2404872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3317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75120" y="2843784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7706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75120" y="3282696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320954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75120" y="3721608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364845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tRPC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675120" y="4160520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40873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675120" y="4599432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4526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675120" y="5038344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496519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675120" y="5477256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540410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Completion Status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implementation snapshot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468880" cy="2468880"/>
          </a:xfrm>
          <a:prstGeom prst="ellipse">
            <a:avLst/>
          </a:prstGeom>
          <a:solidFill>
            <a:srgbClr val="F6F5F1"/>
          </a:solidFill>
          <a:ln w="381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65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B5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4160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expected 10–20% range for Review 1.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0" y="130759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Infra Setup (Docker, CI, monorepo)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600200"/>
            <a:ext cx="7680960" cy="310896"/>
          </a:xfrm>
          <a:prstGeom prst="roundRect">
            <a:avLst>
              <a:gd name="adj" fmla="val 8824"/>
            </a:avLst>
          </a:prstGeom>
          <a:solidFill>
            <a:srgbClr val="E9E7E0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1600200"/>
            <a:ext cx="4224528" cy="310896"/>
          </a:xfrm>
          <a:prstGeom prst="roundRect">
            <a:avLst>
              <a:gd name="adj" fmla="val 8824"/>
            </a:avLst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0" y="158191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0" y="192938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(Sign Up / Sign In, JWT)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2221992"/>
            <a:ext cx="7680960" cy="310896"/>
          </a:xfrm>
          <a:prstGeom prst="roundRect">
            <a:avLst>
              <a:gd name="adj" fmla="val 8824"/>
            </a:avLst>
          </a:prstGeom>
          <a:solidFill>
            <a:srgbClr val="E9E7E0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0" y="2221992"/>
            <a:ext cx="3456432" cy="310896"/>
          </a:xfrm>
          <a:prstGeom prst="roundRect">
            <a:avLst>
              <a:gd name="adj" fmla="val 8824"/>
            </a:avLst>
          </a:prstGeom>
          <a:solidFill>
            <a:srgbClr val="C9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0" y="22037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31920" y="255117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&amp; Core Navigation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2843784"/>
            <a:ext cx="7680960" cy="310896"/>
          </a:xfrm>
          <a:prstGeom prst="roundRect">
            <a:avLst>
              <a:gd name="adj" fmla="val 8824"/>
            </a:avLst>
          </a:prstGeom>
          <a:solidFill>
            <a:srgbClr val="E9E7E0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1920" y="2843784"/>
            <a:ext cx="3840480" cy="310896"/>
          </a:xfrm>
          <a:prstGeom prst="roundRect">
            <a:avLst>
              <a:gd name="adj" fmla="val 8824"/>
            </a:avLst>
          </a:prstGeom>
          <a:solidFill>
            <a:srgbClr val="C9A24B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0" y="282549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31920" y="31729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Automation (RTI / Consumer templates)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3465576"/>
            <a:ext cx="7680960" cy="310896"/>
          </a:xfrm>
          <a:prstGeom prst="roundRect">
            <a:avLst>
              <a:gd name="adj" fmla="val 8824"/>
            </a:avLst>
          </a:prstGeom>
          <a:solidFill>
            <a:srgbClr val="E9E7E0"/>
          </a:solidFill>
          <a:ln/>
        </p:spPr>
      </p:sp>
      <p:sp>
        <p:nvSpPr>
          <p:cNvPr id="22" name="Shape 20"/>
          <p:cNvSpPr/>
          <p:nvPr/>
        </p:nvSpPr>
        <p:spPr>
          <a:xfrm>
            <a:off x="3931920" y="3465576"/>
            <a:ext cx="2304288" cy="310896"/>
          </a:xfrm>
          <a:prstGeom prst="roundRect">
            <a:avLst>
              <a:gd name="adj" fmla="val 8824"/>
            </a:avLst>
          </a:prstGeom>
          <a:solidFill>
            <a:srgbClr val="B5502D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4320" y="34472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31920" y="3794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Advocate Directory (UI, sample data)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31920" y="4087368"/>
            <a:ext cx="7680960" cy="310896"/>
          </a:xfrm>
          <a:prstGeom prst="roundRect">
            <a:avLst>
              <a:gd name="adj" fmla="val 8824"/>
            </a:avLst>
          </a:prstGeom>
          <a:solidFill>
            <a:srgbClr val="E9E7E0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087368"/>
            <a:ext cx="1920240" cy="310896"/>
          </a:xfrm>
          <a:prstGeom prst="roundRect">
            <a:avLst>
              <a:gd name="adj" fmla="val 8824"/>
            </a:avLst>
          </a:prstGeom>
          <a:solidFill>
            <a:srgbClr val="B5502D"/>
          </a:solidFill>
          <a:ln/>
        </p:spPr>
      </p:sp>
      <p:sp>
        <p:nvSpPr>
          <p:cNvPr id="27" name="Text 25"/>
          <p:cNvSpPr/>
          <p:nvPr/>
        </p:nvSpPr>
        <p:spPr>
          <a:xfrm>
            <a:off x="11704320" y="406908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31920" y="44165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Case Timeline &amp; Advocate Matching Engine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31920" y="4709160"/>
            <a:ext cx="7680960" cy="310896"/>
          </a:xfrm>
          <a:prstGeom prst="roundRect">
            <a:avLst>
              <a:gd name="adj" fmla="val 8824"/>
            </a:avLst>
          </a:prstGeom>
          <a:solidFill>
            <a:srgbClr val="E9E7E0"/>
          </a:solidFill>
          <a:ln/>
        </p:spPr>
      </p:sp>
      <p:sp>
        <p:nvSpPr>
          <p:cNvPr id="30" name="Shape 28"/>
          <p:cNvSpPr/>
          <p:nvPr/>
        </p:nvSpPr>
        <p:spPr>
          <a:xfrm>
            <a:off x="3931920" y="4709160"/>
            <a:ext cx="384048" cy="310896"/>
          </a:xfrm>
          <a:prstGeom prst="roundRect">
            <a:avLst>
              <a:gd name="adj" fmla="val 8824"/>
            </a:avLst>
          </a:prstGeom>
          <a:solidFill>
            <a:srgbClr val="B5502D"/>
          </a:solidFill>
          <a:ln/>
        </p:spPr>
      </p:sp>
      <p:sp>
        <p:nvSpPr>
          <p:cNvPr id="31" name="Text 29"/>
          <p:cNvSpPr/>
          <p:nvPr/>
        </p:nvSpPr>
        <p:spPr>
          <a:xfrm>
            <a:off x="11704320" y="469087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&amp; Repository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github.com/amalkr24/Legal-Aid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10607040" cy="4434840"/>
          </a:xfrm>
          <a:prstGeom prst="rect">
            <a:avLst/>
          </a:prstGeom>
          <a:solidFill>
            <a:srgbClr val="1B2A41"/>
          </a:solidFill>
          <a:ln/>
        </p:spPr>
      </p:sp>
      <p:pic>
        <p:nvPicPr>
          <p:cNvPr id="5" name="Image 0" descr="/mnt/user-data/uploads/Screenshot_2026-07-26_1133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627632"/>
            <a:ext cx="102412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Themis — Review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2026-07-26T06:23:20Z</dcterms:created>
  <dcterms:modified xsi:type="dcterms:W3CDTF">2026-07-26T06:23:20Z</dcterms:modified>
</cp:coreProperties>
</file>